
<file path=[Content_Types].xml><?xml version="1.0" encoding="utf-8"?>
<Types xmlns="http://schemas.openxmlformats.org/package/2006/content-types">
  <Default Extension="1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1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4887BB-916B-42B3-8309-07F3ED87670A}" type="doc">
      <dgm:prSet loTypeId="urn:microsoft.com/office/officeart/2008/layout/LinedList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5ECB50E-8613-4EC7-891D-8882F5644F40}">
      <dgm:prSet/>
      <dgm:spPr/>
      <dgm:t>
        <a:bodyPr/>
        <a:lstStyle/>
        <a:p>
          <a:r>
            <a:rPr lang="en-IN" b="1"/>
            <a:t>Conclusion</a:t>
          </a:r>
          <a:endParaRPr lang="en-US"/>
        </a:p>
      </dgm:t>
    </dgm:pt>
    <dgm:pt modelId="{53E63A2F-6D61-49D2-95BE-711E2DC29BF4}" type="parTrans" cxnId="{BE8996EC-B013-4FC5-BA76-FD9AB172D954}">
      <dgm:prSet/>
      <dgm:spPr/>
      <dgm:t>
        <a:bodyPr/>
        <a:lstStyle/>
        <a:p>
          <a:endParaRPr lang="en-US"/>
        </a:p>
      </dgm:t>
    </dgm:pt>
    <dgm:pt modelId="{90384F8A-EAB5-47B1-B6B2-C596DC1F3437}" type="sibTrans" cxnId="{BE8996EC-B013-4FC5-BA76-FD9AB172D954}">
      <dgm:prSet/>
      <dgm:spPr/>
      <dgm:t>
        <a:bodyPr/>
        <a:lstStyle/>
        <a:p>
          <a:endParaRPr lang="en-US"/>
        </a:p>
      </dgm:t>
    </dgm:pt>
    <dgm:pt modelId="{A08C91D4-8D06-4309-A2EE-68AD82CEBE99}">
      <dgm:prSet/>
      <dgm:spPr/>
      <dgm:t>
        <a:bodyPr/>
        <a:lstStyle/>
        <a:p>
          <a:r>
            <a:rPr lang="en-IN"/>
            <a:t>The dashboard provides valuable insights into delivery performance. </a:t>
          </a:r>
          <a:endParaRPr lang="en-US"/>
        </a:p>
      </dgm:t>
    </dgm:pt>
    <dgm:pt modelId="{17909FFA-4D8B-4E35-A9D9-76F50500A7B8}" type="parTrans" cxnId="{EF562424-5917-4750-935F-1DCC869FDC06}">
      <dgm:prSet/>
      <dgm:spPr/>
      <dgm:t>
        <a:bodyPr/>
        <a:lstStyle/>
        <a:p>
          <a:endParaRPr lang="en-US"/>
        </a:p>
      </dgm:t>
    </dgm:pt>
    <dgm:pt modelId="{6FE2E1D0-933F-4AC6-BDDF-D4A0345E3323}" type="sibTrans" cxnId="{EF562424-5917-4750-935F-1DCC869FDC06}">
      <dgm:prSet/>
      <dgm:spPr/>
      <dgm:t>
        <a:bodyPr/>
        <a:lstStyle/>
        <a:p>
          <a:endParaRPr lang="en-US"/>
        </a:p>
      </dgm:t>
    </dgm:pt>
    <dgm:pt modelId="{C74AC375-2D24-4EB0-92AD-3C2584A974D6}">
      <dgm:prSet/>
      <dgm:spPr/>
      <dgm:t>
        <a:bodyPr/>
        <a:lstStyle/>
        <a:p>
          <a:r>
            <a:rPr lang="en-IN"/>
            <a:t>Delivery mode and weather showed a greater impact on delivery time than traffic. </a:t>
          </a:r>
          <a:endParaRPr lang="en-US"/>
        </a:p>
      </dgm:t>
    </dgm:pt>
    <dgm:pt modelId="{0AEE5E48-D7CD-415E-A62B-A82EFE6DE4B6}" type="parTrans" cxnId="{21D93E2E-15DC-4C77-9CDB-5C47FFD69059}">
      <dgm:prSet/>
      <dgm:spPr/>
      <dgm:t>
        <a:bodyPr/>
        <a:lstStyle/>
        <a:p>
          <a:endParaRPr lang="en-US"/>
        </a:p>
      </dgm:t>
    </dgm:pt>
    <dgm:pt modelId="{A864FA11-A6EB-487C-AB0F-9DCDC16560F7}" type="sibTrans" cxnId="{21D93E2E-15DC-4C77-9CDB-5C47FFD69059}">
      <dgm:prSet/>
      <dgm:spPr/>
      <dgm:t>
        <a:bodyPr/>
        <a:lstStyle/>
        <a:p>
          <a:endParaRPr lang="en-US"/>
        </a:p>
      </dgm:t>
    </dgm:pt>
    <dgm:pt modelId="{95C1152C-9620-4451-B501-99989FEDE5FB}">
      <dgm:prSet/>
      <dgm:spPr/>
      <dgm:t>
        <a:bodyPr/>
        <a:lstStyle/>
        <a:p>
          <a:r>
            <a:rPr lang="en-IN"/>
            <a:t>Morning is the busiest order period and requires higher operational capacity. </a:t>
          </a:r>
          <a:endParaRPr lang="en-US"/>
        </a:p>
      </dgm:t>
    </dgm:pt>
    <dgm:pt modelId="{C3457735-3261-4C5C-9E5C-4FC52851AD71}" type="parTrans" cxnId="{68F27F84-78EA-4E38-B0F8-A1560033EB7C}">
      <dgm:prSet/>
      <dgm:spPr/>
      <dgm:t>
        <a:bodyPr/>
        <a:lstStyle/>
        <a:p>
          <a:endParaRPr lang="en-US"/>
        </a:p>
      </dgm:t>
    </dgm:pt>
    <dgm:pt modelId="{FD04E74D-3A7B-46A4-A035-1F85D1218002}" type="sibTrans" cxnId="{68F27F84-78EA-4E38-B0F8-A1560033EB7C}">
      <dgm:prSet/>
      <dgm:spPr/>
      <dgm:t>
        <a:bodyPr/>
        <a:lstStyle/>
        <a:p>
          <a:endParaRPr lang="en-US"/>
        </a:p>
      </dgm:t>
    </dgm:pt>
    <dgm:pt modelId="{69C0134E-E2A3-4046-B002-1BFC4BD9D0AA}">
      <dgm:prSet/>
      <dgm:spPr/>
      <dgm:t>
        <a:bodyPr/>
        <a:lstStyle/>
        <a:p>
          <a:r>
            <a:rPr lang="en-IN"/>
            <a:t>Interactive filters enable quick analysis across different business scenarios.</a:t>
          </a:r>
          <a:endParaRPr lang="en-US"/>
        </a:p>
      </dgm:t>
    </dgm:pt>
    <dgm:pt modelId="{551CBE80-2EB0-46A7-94F4-63B1A87446F4}" type="parTrans" cxnId="{F884EB09-DFFB-493E-8A2C-5065C4BAE9AA}">
      <dgm:prSet/>
      <dgm:spPr/>
      <dgm:t>
        <a:bodyPr/>
        <a:lstStyle/>
        <a:p>
          <a:endParaRPr lang="en-US"/>
        </a:p>
      </dgm:t>
    </dgm:pt>
    <dgm:pt modelId="{AA46626C-A367-4C82-A1BD-AF67A777004F}" type="sibTrans" cxnId="{F884EB09-DFFB-493E-8A2C-5065C4BAE9AA}">
      <dgm:prSet/>
      <dgm:spPr/>
      <dgm:t>
        <a:bodyPr/>
        <a:lstStyle/>
        <a:p>
          <a:endParaRPr lang="en-US"/>
        </a:p>
      </dgm:t>
    </dgm:pt>
    <dgm:pt modelId="{980B9722-400D-45D2-B725-29B2FD02922C}" type="pres">
      <dgm:prSet presAssocID="{994887BB-916B-42B3-8309-07F3ED87670A}" presName="vert0" presStyleCnt="0">
        <dgm:presLayoutVars>
          <dgm:dir/>
          <dgm:animOne val="branch"/>
          <dgm:animLvl val="lvl"/>
        </dgm:presLayoutVars>
      </dgm:prSet>
      <dgm:spPr/>
    </dgm:pt>
    <dgm:pt modelId="{97436AB7-6168-43DB-A613-2E32DC2146A9}" type="pres">
      <dgm:prSet presAssocID="{F5ECB50E-8613-4EC7-891D-8882F5644F40}" presName="thickLine" presStyleLbl="alignNode1" presStyleIdx="0" presStyleCnt="5"/>
      <dgm:spPr/>
    </dgm:pt>
    <dgm:pt modelId="{00CDC619-8831-40E5-93DD-DEDD7ACD802E}" type="pres">
      <dgm:prSet presAssocID="{F5ECB50E-8613-4EC7-891D-8882F5644F40}" presName="horz1" presStyleCnt="0"/>
      <dgm:spPr/>
    </dgm:pt>
    <dgm:pt modelId="{14A86D84-9C9B-4A9B-84BB-E8822F27948D}" type="pres">
      <dgm:prSet presAssocID="{F5ECB50E-8613-4EC7-891D-8882F5644F40}" presName="tx1" presStyleLbl="revTx" presStyleIdx="0" presStyleCnt="5"/>
      <dgm:spPr/>
    </dgm:pt>
    <dgm:pt modelId="{2A2276BF-F773-46FB-945E-5FCD4D8187AC}" type="pres">
      <dgm:prSet presAssocID="{F5ECB50E-8613-4EC7-891D-8882F5644F40}" presName="vert1" presStyleCnt="0"/>
      <dgm:spPr/>
    </dgm:pt>
    <dgm:pt modelId="{08D1A42C-0C3C-46E9-A8C8-997D4400078A}" type="pres">
      <dgm:prSet presAssocID="{A08C91D4-8D06-4309-A2EE-68AD82CEBE99}" presName="thickLine" presStyleLbl="alignNode1" presStyleIdx="1" presStyleCnt="5"/>
      <dgm:spPr/>
    </dgm:pt>
    <dgm:pt modelId="{E082197E-0E92-4259-B188-7F5ECB1C73E9}" type="pres">
      <dgm:prSet presAssocID="{A08C91D4-8D06-4309-A2EE-68AD82CEBE99}" presName="horz1" presStyleCnt="0"/>
      <dgm:spPr/>
    </dgm:pt>
    <dgm:pt modelId="{B81E335B-A7EE-41C2-97C8-B32DFE0E6546}" type="pres">
      <dgm:prSet presAssocID="{A08C91D4-8D06-4309-A2EE-68AD82CEBE99}" presName="tx1" presStyleLbl="revTx" presStyleIdx="1" presStyleCnt="5"/>
      <dgm:spPr/>
    </dgm:pt>
    <dgm:pt modelId="{C987858F-4AB1-44AC-A1B6-584954E21EC9}" type="pres">
      <dgm:prSet presAssocID="{A08C91D4-8D06-4309-A2EE-68AD82CEBE99}" presName="vert1" presStyleCnt="0"/>
      <dgm:spPr/>
    </dgm:pt>
    <dgm:pt modelId="{CAE8D16D-7252-44A3-A92D-4CD19A3AE5C0}" type="pres">
      <dgm:prSet presAssocID="{C74AC375-2D24-4EB0-92AD-3C2584A974D6}" presName="thickLine" presStyleLbl="alignNode1" presStyleIdx="2" presStyleCnt="5"/>
      <dgm:spPr/>
    </dgm:pt>
    <dgm:pt modelId="{F4C4BF09-28CC-4CEC-9373-BC283423C96A}" type="pres">
      <dgm:prSet presAssocID="{C74AC375-2D24-4EB0-92AD-3C2584A974D6}" presName="horz1" presStyleCnt="0"/>
      <dgm:spPr/>
    </dgm:pt>
    <dgm:pt modelId="{FD1ED6FB-1AD3-4A94-BCDB-E1C5F56023EC}" type="pres">
      <dgm:prSet presAssocID="{C74AC375-2D24-4EB0-92AD-3C2584A974D6}" presName="tx1" presStyleLbl="revTx" presStyleIdx="2" presStyleCnt="5"/>
      <dgm:spPr/>
    </dgm:pt>
    <dgm:pt modelId="{9BC18CE1-47BF-44DF-878E-6885DA927B41}" type="pres">
      <dgm:prSet presAssocID="{C74AC375-2D24-4EB0-92AD-3C2584A974D6}" presName="vert1" presStyleCnt="0"/>
      <dgm:spPr/>
    </dgm:pt>
    <dgm:pt modelId="{3F6F43AD-AE33-4A3B-A08C-7EC686357B5C}" type="pres">
      <dgm:prSet presAssocID="{95C1152C-9620-4451-B501-99989FEDE5FB}" presName="thickLine" presStyleLbl="alignNode1" presStyleIdx="3" presStyleCnt="5"/>
      <dgm:spPr/>
    </dgm:pt>
    <dgm:pt modelId="{69E49A3A-A1B7-4B46-B8D3-2D0BDC201022}" type="pres">
      <dgm:prSet presAssocID="{95C1152C-9620-4451-B501-99989FEDE5FB}" presName="horz1" presStyleCnt="0"/>
      <dgm:spPr/>
    </dgm:pt>
    <dgm:pt modelId="{4F2FA9EC-12A1-4BE3-80FB-CBDFCE01489F}" type="pres">
      <dgm:prSet presAssocID="{95C1152C-9620-4451-B501-99989FEDE5FB}" presName="tx1" presStyleLbl="revTx" presStyleIdx="3" presStyleCnt="5"/>
      <dgm:spPr/>
    </dgm:pt>
    <dgm:pt modelId="{D5624C06-E647-46BC-BB46-B719F848B3F6}" type="pres">
      <dgm:prSet presAssocID="{95C1152C-9620-4451-B501-99989FEDE5FB}" presName="vert1" presStyleCnt="0"/>
      <dgm:spPr/>
    </dgm:pt>
    <dgm:pt modelId="{612624CF-F302-4D52-BE8E-FACA49D70777}" type="pres">
      <dgm:prSet presAssocID="{69C0134E-E2A3-4046-B002-1BFC4BD9D0AA}" presName="thickLine" presStyleLbl="alignNode1" presStyleIdx="4" presStyleCnt="5"/>
      <dgm:spPr/>
    </dgm:pt>
    <dgm:pt modelId="{8971DA73-D538-40EA-8F13-F4B258F6BD52}" type="pres">
      <dgm:prSet presAssocID="{69C0134E-E2A3-4046-B002-1BFC4BD9D0AA}" presName="horz1" presStyleCnt="0"/>
      <dgm:spPr/>
    </dgm:pt>
    <dgm:pt modelId="{8CAE692C-FD14-4091-ABD4-824CFD3C3B6A}" type="pres">
      <dgm:prSet presAssocID="{69C0134E-E2A3-4046-B002-1BFC4BD9D0AA}" presName="tx1" presStyleLbl="revTx" presStyleIdx="4" presStyleCnt="5"/>
      <dgm:spPr/>
    </dgm:pt>
    <dgm:pt modelId="{11261DF1-7CFD-492C-9BBF-68E7EC8836A9}" type="pres">
      <dgm:prSet presAssocID="{69C0134E-E2A3-4046-B002-1BFC4BD9D0AA}" presName="vert1" presStyleCnt="0"/>
      <dgm:spPr/>
    </dgm:pt>
  </dgm:ptLst>
  <dgm:cxnLst>
    <dgm:cxn modelId="{F884EB09-DFFB-493E-8A2C-5065C4BAE9AA}" srcId="{994887BB-916B-42B3-8309-07F3ED87670A}" destId="{69C0134E-E2A3-4046-B002-1BFC4BD9D0AA}" srcOrd="4" destOrd="0" parTransId="{551CBE80-2EB0-46A7-94F4-63B1A87446F4}" sibTransId="{AA46626C-A367-4C82-A1BD-AF67A777004F}"/>
    <dgm:cxn modelId="{7BD28C22-5EA3-4352-89F7-2270CB0B0C5A}" type="presOf" srcId="{A08C91D4-8D06-4309-A2EE-68AD82CEBE99}" destId="{B81E335B-A7EE-41C2-97C8-B32DFE0E6546}" srcOrd="0" destOrd="0" presId="urn:microsoft.com/office/officeart/2008/layout/LinedList"/>
    <dgm:cxn modelId="{EF562424-5917-4750-935F-1DCC869FDC06}" srcId="{994887BB-916B-42B3-8309-07F3ED87670A}" destId="{A08C91D4-8D06-4309-A2EE-68AD82CEBE99}" srcOrd="1" destOrd="0" parTransId="{17909FFA-4D8B-4E35-A9D9-76F50500A7B8}" sibTransId="{6FE2E1D0-933F-4AC6-BDDF-D4A0345E3323}"/>
    <dgm:cxn modelId="{5546142C-6382-44AF-9E3F-42E959DA94AD}" type="presOf" srcId="{F5ECB50E-8613-4EC7-891D-8882F5644F40}" destId="{14A86D84-9C9B-4A9B-84BB-E8822F27948D}" srcOrd="0" destOrd="0" presId="urn:microsoft.com/office/officeart/2008/layout/LinedList"/>
    <dgm:cxn modelId="{21D93E2E-15DC-4C77-9CDB-5C47FFD69059}" srcId="{994887BB-916B-42B3-8309-07F3ED87670A}" destId="{C74AC375-2D24-4EB0-92AD-3C2584A974D6}" srcOrd="2" destOrd="0" parTransId="{0AEE5E48-D7CD-415E-A62B-A82EFE6DE4B6}" sibTransId="{A864FA11-A6EB-487C-AB0F-9DCDC16560F7}"/>
    <dgm:cxn modelId="{107F056B-25E9-4159-AFCD-11CC96C33D9E}" type="presOf" srcId="{69C0134E-E2A3-4046-B002-1BFC4BD9D0AA}" destId="{8CAE692C-FD14-4091-ABD4-824CFD3C3B6A}" srcOrd="0" destOrd="0" presId="urn:microsoft.com/office/officeart/2008/layout/LinedList"/>
    <dgm:cxn modelId="{68F27F84-78EA-4E38-B0F8-A1560033EB7C}" srcId="{994887BB-916B-42B3-8309-07F3ED87670A}" destId="{95C1152C-9620-4451-B501-99989FEDE5FB}" srcOrd="3" destOrd="0" parTransId="{C3457735-3261-4C5C-9E5C-4FC52851AD71}" sibTransId="{FD04E74D-3A7B-46A4-A035-1F85D1218002}"/>
    <dgm:cxn modelId="{936EA3A6-E783-47D7-9C6A-572CFB0E3100}" type="presOf" srcId="{95C1152C-9620-4451-B501-99989FEDE5FB}" destId="{4F2FA9EC-12A1-4BE3-80FB-CBDFCE01489F}" srcOrd="0" destOrd="0" presId="urn:microsoft.com/office/officeart/2008/layout/LinedList"/>
    <dgm:cxn modelId="{A65A86D1-C8D9-4494-8331-C969122B36B3}" type="presOf" srcId="{994887BB-916B-42B3-8309-07F3ED87670A}" destId="{980B9722-400D-45D2-B725-29B2FD02922C}" srcOrd="0" destOrd="0" presId="urn:microsoft.com/office/officeart/2008/layout/LinedList"/>
    <dgm:cxn modelId="{BE8996EC-B013-4FC5-BA76-FD9AB172D954}" srcId="{994887BB-916B-42B3-8309-07F3ED87670A}" destId="{F5ECB50E-8613-4EC7-891D-8882F5644F40}" srcOrd="0" destOrd="0" parTransId="{53E63A2F-6D61-49D2-95BE-711E2DC29BF4}" sibTransId="{90384F8A-EAB5-47B1-B6B2-C596DC1F3437}"/>
    <dgm:cxn modelId="{0E33FBF1-676A-48B3-981D-25EF5DD5F72B}" type="presOf" srcId="{C74AC375-2D24-4EB0-92AD-3C2584A974D6}" destId="{FD1ED6FB-1AD3-4A94-BCDB-E1C5F56023EC}" srcOrd="0" destOrd="0" presId="urn:microsoft.com/office/officeart/2008/layout/LinedList"/>
    <dgm:cxn modelId="{9B5B07D9-E975-43CC-B58A-A1BB718DB0BF}" type="presParOf" srcId="{980B9722-400D-45D2-B725-29B2FD02922C}" destId="{97436AB7-6168-43DB-A613-2E32DC2146A9}" srcOrd="0" destOrd="0" presId="urn:microsoft.com/office/officeart/2008/layout/LinedList"/>
    <dgm:cxn modelId="{CA6DDFB7-DDBC-4E7F-AB33-599F20232E3E}" type="presParOf" srcId="{980B9722-400D-45D2-B725-29B2FD02922C}" destId="{00CDC619-8831-40E5-93DD-DEDD7ACD802E}" srcOrd="1" destOrd="0" presId="urn:microsoft.com/office/officeart/2008/layout/LinedList"/>
    <dgm:cxn modelId="{04C18370-03F9-40B9-A6C7-A8F4359CA338}" type="presParOf" srcId="{00CDC619-8831-40E5-93DD-DEDD7ACD802E}" destId="{14A86D84-9C9B-4A9B-84BB-E8822F27948D}" srcOrd="0" destOrd="0" presId="urn:microsoft.com/office/officeart/2008/layout/LinedList"/>
    <dgm:cxn modelId="{7964E5F3-498F-4B00-8CA1-61317AE711EE}" type="presParOf" srcId="{00CDC619-8831-40E5-93DD-DEDD7ACD802E}" destId="{2A2276BF-F773-46FB-945E-5FCD4D8187AC}" srcOrd="1" destOrd="0" presId="urn:microsoft.com/office/officeart/2008/layout/LinedList"/>
    <dgm:cxn modelId="{EF9CEE7A-86B9-4E55-88F1-362FCE235323}" type="presParOf" srcId="{980B9722-400D-45D2-B725-29B2FD02922C}" destId="{08D1A42C-0C3C-46E9-A8C8-997D4400078A}" srcOrd="2" destOrd="0" presId="urn:microsoft.com/office/officeart/2008/layout/LinedList"/>
    <dgm:cxn modelId="{993829AE-193E-489F-B008-542B48D34AB4}" type="presParOf" srcId="{980B9722-400D-45D2-B725-29B2FD02922C}" destId="{E082197E-0E92-4259-B188-7F5ECB1C73E9}" srcOrd="3" destOrd="0" presId="urn:microsoft.com/office/officeart/2008/layout/LinedList"/>
    <dgm:cxn modelId="{D2A5C8B9-A0E2-44A1-ABC6-CF6072584BC0}" type="presParOf" srcId="{E082197E-0E92-4259-B188-7F5ECB1C73E9}" destId="{B81E335B-A7EE-41C2-97C8-B32DFE0E6546}" srcOrd="0" destOrd="0" presId="urn:microsoft.com/office/officeart/2008/layout/LinedList"/>
    <dgm:cxn modelId="{1B904552-2F57-4AF3-9032-E363CBCFD85C}" type="presParOf" srcId="{E082197E-0E92-4259-B188-7F5ECB1C73E9}" destId="{C987858F-4AB1-44AC-A1B6-584954E21EC9}" srcOrd="1" destOrd="0" presId="urn:microsoft.com/office/officeart/2008/layout/LinedList"/>
    <dgm:cxn modelId="{5D4AE592-51EF-46B4-BB00-75AD0220BA33}" type="presParOf" srcId="{980B9722-400D-45D2-B725-29B2FD02922C}" destId="{CAE8D16D-7252-44A3-A92D-4CD19A3AE5C0}" srcOrd="4" destOrd="0" presId="urn:microsoft.com/office/officeart/2008/layout/LinedList"/>
    <dgm:cxn modelId="{7C98F418-5192-47E4-9CB4-CBEBD4CDECB2}" type="presParOf" srcId="{980B9722-400D-45D2-B725-29B2FD02922C}" destId="{F4C4BF09-28CC-4CEC-9373-BC283423C96A}" srcOrd="5" destOrd="0" presId="urn:microsoft.com/office/officeart/2008/layout/LinedList"/>
    <dgm:cxn modelId="{55BADE9D-8E2B-4D98-A786-C19DA570B68F}" type="presParOf" srcId="{F4C4BF09-28CC-4CEC-9373-BC283423C96A}" destId="{FD1ED6FB-1AD3-4A94-BCDB-E1C5F56023EC}" srcOrd="0" destOrd="0" presId="urn:microsoft.com/office/officeart/2008/layout/LinedList"/>
    <dgm:cxn modelId="{82E70EA0-1F05-4B71-942C-704B47D30688}" type="presParOf" srcId="{F4C4BF09-28CC-4CEC-9373-BC283423C96A}" destId="{9BC18CE1-47BF-44DF-878E-6885DA927B41}" srcOrd="1" destOrd="0" presId="urn:microsoft.com/office/officeart/2008/layout/LinedList"/>
    <dgm:cxn modelId="{D0F716A8-07A2-4C37-B03D-777BEC7F59C6}" type="presParOf" srcId="{980B9722-400D-45D2-B725-29B2FD02922C}" destId="{3F6F43AD-AE33-4A3B-A08C-7EC686357B5C}" srcOrd="6" destOrd="0" presId="urn:microsoft.com/office/officeart/2008/layout/LinedList"/>
    <dgm:cxn modelId="{6182F942-C653-4524-B94F-593A355E9CED}" type="presParOf" srcId="{980B9722-400D-45D2-B725-29B2FD02922C}" destId="{69E49A3A-A1B7-4B46-B8D3-2D0BDC201022}" srcOrd="7" destOrd="0" presId="urn:microsoft.com/office/officeart/2008/layout/LinedList"/>
    <dgm:cxn modelId="{CDB94917-F0AC-4AB5-9C4C-D4829F246A1E}" type="presParOf" srcId="{69E49A3A-A1B7-4B46-B8D3-2D0BDC201022}" destId="{4F2FA9EC-12A1-4BE3-80FB-CBDFCE01489F}" srcOrd="0" destOrd="0" presId="urn:microsoft.com/office/officeart/2008/layout/LinedList"/>
    <dgm:cxn modelId="{C4231FD0-7AE3-43D3-9912-B687FF8E7928}" type="presParOf" srcId="{69E49A3A-A1B7-4B46-B8D3-2D0BDC201022}" destId="{D5624C06-E647-46BC-BB46-B719F848B3F6}" srcOrd="1" destOrd="0" presId="urn:microsoft.com/office/officeart/2008/layout/LinedList"/>
    <dgm:cxn modelId="{9A40FCB3-166C-49C5-8AFC-E43E65D77DD4}" type="presParOf" srcId="{980B9722-400D-45D2-B725-29B2FD02922C}" destId="{612624CF-F302-4D52-BE8E-FACA49D70777}" srcOrd="8" destOrd="0" presId="urn:microsoft.com/office/officeart/2008/layout/LinedList"/>
    <dgm:cxn modelId="{EEF520B5-D46F-4B84-BA94-C20C791F4BF3}" type="presParOf" srcId="{980B9722-400D-45D2-B725-29B2FD02922C}" destId="{8971DA73-D538-40EA-8F13-F4B258F6BD52}" srcOrd="9" destOrd="0" presId="urn:microsoft.com/office/officeart/2008/layout/LinedList"/>
    <dgm:cxn modelId="{5FD80859-8AED-4430-A7D2-2D838DEEF7C9}" type="presParOf" srcId="{8971DA73-D538-40EA-8F13-F4B258F6BD52}" destId="{8CAE692C-FD14-4091-ABD4-824CFD3C3B6A}" srcOrd="0" destOrd="0" presId="urn:microsoft.com/office/officeart/2008/layout/LinedList"/>
    <dgm:cxn modelId="{677CC5A2-CE13-4B6B-8F70-1B2863901208}" type="presParOf" srcId="{8971DA73-D538-40EA-8F13-F4B258F6BD52}" destId="{11261DF1-7CFD-492C-9BBF-68E7EC8836A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436AB7-6168-43DB-A613-2E32DC2146A9}">
      <dsp:nvSpPr>
        <dsp:cNvPr id="0" name=""/>
        <dsp:cNvSpPr/>
      </dsp:nvSpPr>
      <dsp:spPr>
        <a:xfrm>
          <a:off x="0" y="471"/>
          <a:ext cx="57809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4A86D84-9C9B-4A9B-84BB-E8822F27948D}">
      <dsp:nvSpPr>
        <dsp:cNvPr id="0" name=""/>
        <dsp:cNvSpPr/>
      </dsp:nvSpPr>
      <dsp:spPr>
        <a:xfrm>
          <a:off x="0" y="471"/>
          <a:ext cx="5780975" cy="7715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/>
            <a:t>Conclusion</a:t>
          </a:r>
          <a:endParaRPr lang="en-US" sz="2100" kern="1200"/>
        </a:p>
      </dsp:txBody>
      <dsp:txXfrm>
        <a:off x="0" y="471"/>
        <a:ext cx="5780975" cy="771565"/>
      </dsp:txXfrm>
    </dsp:sp>
    <dsp:sp modelId="{08D1A42C-0C3C-46E9-A8C8-997D4400078A}">
      <dsp:nvSpPr>
        <dsp:cNvPr id="0" name=""/>
        <dsp:cNvSpPr/>
      </dsp:nvSpPr>
      <dsp:spPr>
        <a:xfrm>
          <a:off x="0" y="772036"/>
          <a:ext cx="57809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81E335B-A7EE-41C2-97C8-B32DFE0E6546}">
      <dsp:nvSpPr>
        <dsp:cNvPr id="0" name=""/>
        <dsp:cNvSpPr/>
      </dsp:nvSpPr>
      <dsp:spPr>
        <a:xfrm>
          <a:off x="0" y="772036"/>
          <a:ext cx="5780975" cy="7715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The dashboard provides valuable insights into delivery performance. </a:t>
          </a:r>
          <a:endParaRPr lang="en-US" sz="2100" kern="1200"/>
        </a:p>
      </dsp:txBody>
      <dsp:txXfrm>
        <a:off x="0" y="772036"/>
        <a:ext cx="5780975" cy="771565"/>
      </dsp:txXfrm>
    </dsp:sp>
    <dsp:sp modelId="{CAE8D16D-7252-44A3-A92D-4CD19A3AE5C0}">
      <dsp:nvSpPr>
        <dsp:cNvPr id="0" name=""/>
        <dsp:cNvSpPr/>
      </dsp:nvSpPr>
      <dsp:spPr>
        <a:xfrm>
          <a:off x="0" y="1543601"/>
          <a:ext cx="57809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D1ED6FB-1AD3-4A94-BCDB-E1C5F56023EC}">
      <dsp:nvSpPr>
        <dsp:cNvPr id="0" name=""/>
        <dsp:cNvSpPr/>
      </dsp:nvSpPr>
      <dsp:spPr>
        <a:xfrm>
          <a:off x="0" y="1543601"/>
          <a:ext cx="5780975" cy="7715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Delivery mode and weather showed a greater impact on delivery time than traffic. </a:t>
          </a:r>
          <a:endParaRPr lang="en-US" sz="2100" kern="1200"/>
        </a:p>
      </dsp:txBody>
      <dsp:txXfrm>
        <a:off x="0" y="1543601"/>
        <a:ext cx="5780975" cy="771565"/>
      </dsp:txXfrm>
    </dsp:sp>
    <dsp:sp modelId="{3F6F43AD-AE33-4A3B-A08C-7EC686357B5C}">
      <dsp:nvSpPr>
        <dsp:cNvPr id="0" name=""/>
        <dsp:cNvSpPr/>
      </dsp:nvSpPr>
      <dsp:spPr>
        <a:xfrm>
          <a:off x="0" y="2315166"/>
          <a:ext cx="57809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F2FA9EC-12A1-4BE3-80FB-CBDFCE01489F}">
      <dsp:nvSpPr>
        <dsp:cNvPr id="0" name=""/>
        <dsp:cNvSpPr/>
      </dsp:nvSpPr>
      <dsp:spPr>
        <a:xfrm>
          <a:off x="0" y="2315166"/>
          <a:ext cx="5780975" cy="7715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Morning is the busiest order period and requires higher operational capacity. </a:t>
          </a:r>
          <a:endParaRPr lang="en-US" sz="2100" kern="1200"/>
        </a:p>
      </dsp:txBody>
      <dsp:txXfrm>
        <a:off x="0" y="2315166"/>
        <a:ext cx="5780975" cy="771565"/>
      </dsp:txXfrm>
    </dsp:sp>
    <dsp:sp modelId="{612624CF-F302-4D52-BE8E-FACA49D70777}">
      <dsp:nvSpPr>
        <dsp:cNvPr id="0" name=""/>
        <dsp:cNvSpPr/>
      </dsp:nvSpPr>
      <dsp:spPr>
        <a:xfrm>
          <a:off x="0" y="3086731"/>
          <a:ext cx="57809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CAE692C-FD14-4091-ABD4-824CFD3C3B6A}">
      <dsp:nvSpPr>
        <dsp:cNvPr id="0" name=""/>
        <dsp:cNvSpPr/>
      </dsp:nvSpPr>
      <dsp:spPr>
        <a:xfrm>
          <a:off x="0" y="3086731"/>
          <a:ext cx="5780975" cy="7715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Interactive filters enable quick analysis across different business scenarios.</a:t>
          </a:r>
          <a:endParaRPr lang="en-US" sz="2100" kern="1200"/>
        </a:p>
      </dsp:txBody>
      <dsp:txXfrm>
        <a:off x="0" y="3086731"/>
        <a:ext cx="5780975" cy="7715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EF118477-BA54-4B0E-9EC5-D8568300CAF2}" type="datetime1">
              <a:rPr lang="en-US" smtClean="0"/>
              <a:t>6/28/2026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1471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53AA-13B8-469A-87B0-FF7C74E1EADE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669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5B3B0F7F-6AD6-4AF0-8BB1-D49CE0F9F622}" type="datetime1">
              <a:rPr lang="en-US" smtClean="0"/>
              <a:t>6/28/2026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1336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016F69B6-6D5E-4363-B374-18E94027D1E6}" type="datetime1">
              <a:rPr lang="en-US" smtClean="0"/>
              <a:t>6/28/2026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4544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4DEE5A9B-1189-4B03-AA34-8ABCB3EDCE59}" type="datetime1">
              <a:rPr lang="en-US" smtClean="0"/>
              <a:t>6/28/2026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0735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93776"/>
            <a:ext cx="8028432" cy="4325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65776"/>
            <a:ext cx="5431536" cy="118872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D32A50-3A67-42D0-AFC3-9798A621A2DF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4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5111496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5698FC-C9DA-44B4-AC6C-01EEA7EAAA4C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621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170516"/>
            <a:ext cx="4800600" cy="108398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ECA0D2-D30D-4484-8941-E31C1541BC59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6581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8961120" cy="4654296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FA793B8-7270-4493-83ED-C07D34603133}" type="datetime1">
              <a:rPr lang="en-US" smtClean="0"/>
              <a:t>6/28/2026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8916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94744" y="2423160"/>
            <a:ext cx="578097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AD26B-DEF0-4EC5-90CD-3C7B79EC8572}" type="datetime1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759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6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914400" indent="-228600">
              <a:buFont typeface="+mj-lt"/>
              <a:buAutoNum type="arabicPeriod"/>
              <a:defRPr sz="1400"/>
            </a:lvl4pPr>
            <a:lvl5pPr marL="1143000" indent="-2286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CA36A28-16B8-4B74-ADBC-086BC21557C6}" type="datetime1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0040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07CC-3A12-4A50-A3BE-C6063551B4A3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4192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40E33-4FBE-4166-8E4D-D16E2368EAF9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7267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688B5-3E47-407E-A4D5-0E98E41979E9}" type="datetime1">
              <a:rPr lang="en-US" smtClean="0"/>
              <a:t>6/28/2026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587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29CD1-440F-4DE5-9914-1074B1963E64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8850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55DF8-55DB-438A-B328-5A22697F5E96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6865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9F2D74A-71A1-4609-9BED-C43EBEF2D096}" type="datetime1">
              <a:rPr lang="en-US" smtClean="0"/>
              <a:t>6/28/2026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6349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B868B-869A-478B-B17A-F3477F1ABEB8}" type="datetime1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2338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8CCA563-903D-4707-A09B-73AE7FD9F3E4}" type="datetime1">
              <a:rPr lang="en-US" smtClean="0"/>
              <a:t>6/28/2026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1251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F747B-DE86-4C56-A69A-2124AC6051DB}" type="datetime1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3846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B5E8E98-97C5-4AE8-8CC9-69C51FF1A0EF}" type="datetime1">
              <a:rPr lang="en-US" smtClean="0"/>
              <a:t>6/28/2026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7762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4F82-DB30-4BD5-9E9D-AD825E313C84}" type="datetime1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461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E7477ED-8564-46ED-8FFC-DE5A509699F3}" type="datetime1">
              <a:rPr lang="en-US" smtClean="0"/>
              <a:t>6/28/2026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9440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26781-2293-4754-A74B-94E6E7D7B311}" type="datetime1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1048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DFBFA6E-9D0B-474A-AFB9-4E0832448570}" type="datetime1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1651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E767648-9FB3-40F4-8072-E80887331DF3}" type="datetime1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5365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007E99A-2976-4D79-B66C-833B4C12E9C9}" type="datetime1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5748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DDD7D-A4A9-4042-8D3D-AF897B76225E}" type="datetime1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376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A3D79-61FB-48D3-96EC-9D73986E2DB4}" type="datetime1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53475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E407E80-9270-4600-9E83-876C054EC0ED}" type="datetime1">
              <a:rPr lang="en-US" smtClean="0"/>
              <a:t>6/28/2026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4247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7A043757-40C8-48EB-A459-80D3B00F0BCB}" type="datetime1">
              <a:rPr lang="en-US" smtClean="0"/>
              <a:t>6/28/2026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04340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D0304CB2-AF95-4B6C-81FD-EF29E4F12940}" type="datetime1">
              <a:rPr lang="en-US" smtClean="0"/>
              <a:t>6/28/2026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0312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FD636673-28CE-4CCE-80FB-7124C935A31A}" type="datetime1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6571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EF0D11-5ED9-D2C8-48DF-CDDD85CEAC2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4809744"/>
            <a:ext cx="9345168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0350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802264-EF96-4074-A671-AB5D99F5E332}" type="datetime1">
              <a:rPr lang="en-US" smtClean="0"/>
              <a:t>6/28/2026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444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4873752"/>
            <a:ext cx="8439912" cy="1490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420624"/>
            <a:ext cx="1110081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B84F615-9106-410C-834A-3DBE51A81CC1}" type="datetime1">
              <a:rPr lang="en-US" smtClean="0"/>
              <a:t>6/28/2026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2378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EA1A10B-111C-8469-40F7-C3551BB027D0}"/>
              </a:ext>
            </a:extLst>
          </p:cNvPr>
          <p:cNvSpPr/>
          <p:nvPr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4873752"/>
            <a:ext cx="8439912" cy="159105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lang="en-US" sz="280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420624"/>
            <a:ext cx="1110081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5A920F-C91E-4FD9-A8A8-AC96444816EA}" type="datetime1">
              <a:rPr lang="en-US" smtClean="0"/>
              <a:t>6/28/2026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9507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F91DA-BC67-4FFF-80B3-6A83720BA580}" type="datetime1">
              <a:rPr lang="en-US" smtClean="0"/>
              <a:t>6/28/2026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987552"/>
            <a:ext cx="10149840" cy="4846320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4400" b="0" cap="all" baseline="0">
                <a:solidFill>
                  <a:schemeClr val="accent1"/>
                </a:solidFill>
              </a:defRPr>
            </a:lvl1pPr>
            <a:lvl2pPr marL="228600" indent="0">
              <a:lnSpc>
                <a:spcPct val="110000"/>
              </a:lnSpc>
              <a:buNone/>
              <a:defRPr sz="4000" b="0" cap="all" baseline="0">
                <a:solidFill>
                  <a:schemeClr val="accent1"/>
                </a:solidFill>
              </a:defRPr>
            </a:lvl2pPr>
            <a:lvl3pPr marL="457200" indent="0">
              <a:lnSpc>
                <a:spcPct val="110000"/>
              </a:lnSpc>
              <a:buNone/>
              <a:defRPr sz="3600" b="0" cap="all" baseline="0">
                <a:solidFill>
                  <a:schemeClr val="accent1"/>
                </a:solidFill>
              </a:defRPr>
            </a:lvl3pPr>
            <a:lvl4pPr marL="685800" indent="0">
              <a:lnSpc>
                <a:spcPct val="110000"/>
              </a:lnSpc>
              <a:buNone/>
              <a:defRPr sz="3200" b="0" cap="all" baseline="0">
                <a:solidFill>
                  <a:schemeClr val="accent1"/>
                </a:solidFill>
              </a:defRPr>
            </a:lvl4pPr>
            <a:lvl5pPr marL="914400" indent="0">
              <a:lnSpc>
                <a:spcPct val="110000"/>
              </a:lnSpc>
              <a:buNone/>
              <a:defRPr sz="2800" b="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713644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5565DD7-EB64-4BFE-B850-4043488A7CD8}" type="datetime1">
              <a:rPr lang="en-US" smtClean="0"/>
              <a:t>6/28/2026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630936"/>
            <a:ext cx="844905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5400" b="0" cap="none" baseline="0">
                <a:solidFill>
                  <a:schemeClr val="accent1"/>
                </a:solidFill>
              </a:defRPr>
            </a:lvl1pPr>
            <a:lvl2pPr marL="228600" indent="0">
              <a:lnSpc>
                <a:spcPct val="110000"/>
              </a:lnSpc>
              <a:buNone/>
              <a:defRPr sz="4800" b="0" cap="none" baseline="0">
                <a:solidFill>
                  <a:schemeClr val="accent1"/>
                </a:solidFill>
              </a:defRPr>
            </a:lvl2pPr>
            <a:lvl3pPr marL="457200" indent="0">
              <a:lnSpc>
                <a:spcPct val="110000"/>
              </a:lnSpc>
              <a:buNone/>
              <a:defRPr sz="4400" b="0" cap="none" baseline="0">
                <a:solidFill>
                  <a:schemeClr val="accent1"/>
                </a:solidFill>
              </a:defRPr>
            </a:lvl3pPr>
            <a:lvl4pPr marL="685800" indent="0">
              <a:lnSpc>
                <a:spcPct val="110000"/>
              </a:lnSpc>
              <a:buNone/>
              <a:defRPr sz="4000" b="0" cap="none" baseline="0">
                <a:solidFill>
                  <a:schemeClr val="accent1"/>
                </a:solidFill>
              </a:defRPr>
            </a:lvl4pPr>
            <a:lvl5pPr marL="914400" indent="0">
              <a:lnSpc>
                <a:spcPct val="110000"/>
              </a:lnSpc>
              <a:buNone/>
              <a:defRPr sz="3600" b="0" cap="none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657110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2C979-2DBB-4FF5-B773-BBC906FD5969}" type="datetime1">
              <a:rPr lang="en-US" smtClean="0"/>
              <a:t>6/28/2026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877824"/>
            <a:ext cx="8046720" cy="5065776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5400" b="0"/>
            </a:lvl1pPr>
            <a:lvl2pPr marL="228600" indent="0">
              <a:lnSpc>
                <a:spcPct val="110000"/>
              </a:lnSpc>
              <a:buNone/>
              <a:defRPr sz="4800" b="0"/>
            </a:lvl2pPr>
            <a:lvl3pPr marL="457200" indent="0">
              <a:lnSpc>
                <a:spcPct val="110000"/>
              </a:lnSpc>
              <a:buNone/>
              <a:defRPr sz="4400" b="0"/>
            </a:lvl3pPr>
            <a:lvl4pPr marL="685800" indent="0">
              <a:lnSpc>
                <a:spcPct val="110000"/>
              </a:lnSpc>
              <a:buNone/>
              <a:defRPr sz="4000" b="0"/>
            </a:lvl4pPr>
            <a:lvl5pPr marL="914400" indent="0">
              <a:lnSpc>
                <a:spcPct val="110000"/>
              </a:lnSpc>
              <a:buNone/>
              <a:defRPr sz="3600" b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226838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984F2-69E3-42EA-A769-C3221255F524}" type="datetime1">
              <a:rPr lang="en-US" smtClean="0"/>
              <a:t>6/28/2026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596767"/>
            <a:ext cx="9848088" cy="3767328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6000" b="0">
                <a:solidFill>
                  <a:schemeClr val="accent1"/>
                </a:solidFill>
              </a:defRPr>
            </a:lvl1pPr>
            <a:lvl2pPr marL="228600" indent="0">
              <a:lnSpc>
                <a:spcPct val="110000"/>
              </a:lnSpc>
              <a:buNone/>
              <a:defRPr sz="5400" b="0">
                <a:solidFill>
                  <a:schemeClr val="accent1"/>
                </a:solidFill>
              </a:defRPr>
            </a:lvl2pPr>
            <a:lvl3pPr marL="457200" indent="0">
              <a:lnSpc>
                <a:spcPct val="110000"/>
              </a:lnSpc>
              <a:buNone/>
              <a:defRPr sz="4800" b="0">
                <a:solidFill>
                  <a:schemeClr val="accent1"/>
                </a:solidFill>
              </a:defRPr>
            </a:lvl3pPr>
            <a:lvl4pPr marL="685800" indent="0">
              <a:lnSpc>
                <a:spcPct val="110000"/>
              </a:lnSpc>
              <a:buNone/>
              <a:defRPr sz="4400" b="0">
                <a:solidFill>
                  <a:schemeClr val="accent1"/>
                </a:solidFill>
              </a:defRPr>
            </a:lvl4pPr>
            <a:lvl5pPr marL="914400" indent="0">
              <a:lnSpc>
                <a:spcPct val="110000"/>
              </a:lnSpc>
              <a:buNone/>
              <a:defRPr sz="40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3407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8488" y="5376672"/>
            <a:ext cx="9079992" cy="466344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20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21600-2F49-4BDF-9F00-79A81477383F}" type="datetime1">
              <a:rPr lang="en-US" smtClean="0"/>
              <a:t>6/28/2026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527048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19122930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AF1DAFD-6C43-776A-EDEF-047653131661}"/>
              </a:ext>
            </a:extLst>
          </p:cNvPr>
          <p:cNvSpPr/>
          <p:nvPr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" y="5148072"/>
            <a:ext cx="8366760" cy="118872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23558-A89A-4F39-900D-C4A4FDA1B2E7}" type="datetime1">
              <a:rPr lang="en-US" smtClean="0"/>
              <a:t>6/28/2026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85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08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783080"/>
            <a:ext cx="8503920" cy="3209544"/>
          </a:xfrm>
        </p:spPr>
        <p:txBody>
          <a:bodyPr anchor="t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95077098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25BDAC2-53C5-6F8B-7446-54D1152EB91B}"/>
              </a:ext>
            </a:extLst>
          </p:cNvPr>
          <p:cNvSpPr/>
          <p:nvPr/>
        </p:nvSpPr>
        <p:spPr>
          <a:xfrm>
            <a:off x="0" y="0"/>
            <a:ext cx="11385608" cy="5084064"/>
          </a:xfrm>
          <a:custGeom>
            <a:avLst/>
            <a:gdLst>
              <a:gd name="connsiteX0" fmla="*/ 0 w 11385608"/>
              <a:gd name="connsiteY0" fmla="*/ 0 h 5084064"/>
              <a:gd name="connsiteX1" fmla="*/ 11385608 w 11385608"/>
              <a:gd name="connsiteY1" fmla="*/ 0 h 5084064"/>
              <a:gd name="connsiteX2" fmla="*/ 11385608 w 11385608"/>
              <a:gd name="connsiteY2" fmla="*/ 4562110 h 5084064"/>
              <a:gd name="connsiteX3" fmla="*/ 10863655 w 11385608"/>
              <a:gd name="connsiteY3" fmla="*/ 5084064 h 5084064"/>
              <a:gd name="connsiteX4" fmla="*/ 0 w 11385608"/>
              <a:gd name="connsiteY4" fmla="*/ 5084064 h 508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5084064">
                <a:moveTo>
                  <a:pt x="0" y="0"/>
                </a:moveTo>
                <a:lnTo>
                  <a:pt x="11385608" y="0"/>
                </a:lnTo>
                <a:lnTo>
                  <a:pt x="11385608" y="4562110"/>
                </a:lnTo>
                <a:cubicBezTo>
                  <a:pt x="11385608" y="4850377"/>
                  <a:pt x="11151922" y="5084064"/>
                  <a:pt x="10863655" y="5084064"/>
                </a:cubicBezTo>
                <a:lnTo>
                  <a:pt x="0" y="5084064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" y="5449824"/>
            <a:ext cx="9546336" cy="905256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2020B-CB60-4281-A570-6300974B7A2E}" type="datetime1">
              <a:rPr lang="en-US" smtClean="0"/>
              <a:t>6/28/2026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85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08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30352"/>
            <a:ext cx="9683496" cy="395020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125104130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784" y="4965192"/>
            <a:ext cx="8339328" cy="128930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033272"/>
            <a:ext cx="8467344" cy="3931920"/>
          </a:xfrm>
        </p:spPr>
        <p:txBody>
          <a:bodyPr anchor="b">
            <a:norm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554EA42-18F1-82AE-02C3-B2B2A57AD7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55215D8-97AA-4B85-B7A0-A02F39368DA3}" type="datetime1">
              <a:rPr lang="en-US" smtClean="0"/>
              <a:t>6/28/2026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8AE5996-C1E5-AFF0-1C20-EFDC871179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8ACF18-7D60-FEE3-1B8D-6E5F51611A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249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5CE14-1FF6-4074-BE8F-BABA3B0759C8}" type="datetime1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5721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71389-0C57-4856-A530-D0CC79ABF97F}" type="datetime1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40166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13EFD-DF71-4A7D-9C47-1BBDB138B295}" type="datetime1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2460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BE319-9B1C-4A02-A60F-55C05B841F00}" type="datetime1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13216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F397E-666B-470F-A253-6BE6BC97EEBE}" type="datetime1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87682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249CC-ABEB-43E4-956A-E3EA25785381}" type="datetime1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27525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E689B-95F7-4D9F-8FA3-5EAD5F062125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8873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EC20F-E1D8-4943-B054-6F2B6C10D630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6171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492240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F7F99000-8DC5-4FAA-962C-D38BB4F2BF7D}" type="datetime1">
              <a:rPr lang="en-US" smtClean="0"/>
              <a:t>6/28/2026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7112" y="6492240"/>
            <a:ext cx="266090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9456" y="6492240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754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2" r:id="rId2"/>
    <p:sldLayoutId id="2147483804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66" r:id="rId17"/>
    <p:sldLayoutId id="2147483767" r:id="rId18"/>
    <p:sldLayoutId id="2147483768" r:id="rId19"/>
    <p:sldLayoutId id="2147483769" r:id="rId20"/>
    <p:sldLayoutId id="2147483770" r:id="rId21"/>
    <p:sldLayoutId id="2147483771" r:id="rId22"/>
    <p:sldLayoutId id="2147483772" r:id="rId23"/>
    <p:sldLayoutId id="2147483773" r:id="rId24"/>
    <p:sldLayoutId id="2147483774" r:id="rId25"/>
    <p:sldLayoutId id="2147483775" r:id="rId26"/>
    <p:sldLayoutId id="2147483776" r:id="rId27"/>
    <p:sldLayoutId id="2147483777" r:id="rId28"/>
    <p:sldLayoutId id="2147483778" r:id="rId29"/>
    <p:sldLayoutId id="2147483779" r:id="rId30"/>
    <p:sldLayoutId id="2147483780" r:id="rId31"/>
    <p:sldLayoutId id="2147483781" r:id="rId32"/>
    <p:sldLayoutId id="2147483782" r:id="rId33"/>
    <p:sldLayoutId id="2147483783" r:id="rId34"/>
    <p:sldLayoutId id="2147483784" r:id="rId35"/>
    <p:sldLayoutId id="2147483785" r:id="rId36"/>
    <p:sldLayoutId id="2147483786" r:id="rId37"/>
    <p:sldLayoutId id="2147483787" r:id="rId38"/>
    <p:sldLayoutId id="2147483788" r:id="rId39"/>
    <p:sldLayoutId id="2147483789" r:id="rId40"/>
    <p:sldLayoutId id="2147483790" r:id="rId41"/>
    <p:sldLayoutId id="2147483791" r:id="rId42"/>
    <p:sldLayoutId id="2147483792" r:id="rId43"/>
    <p:sldLayoutId id="2147483793" r:id="rId44"/>
    <p:sldLayoutId id="2147483794" r:id="rId45"/>
    <p:sldLayoutId id="2147483795" r:id="rId46"/>
    <p:sldLayoutId id="2147483796" r:id="rId47"/>
    <p:sldLayoutId id="2147483797" r:id="rId48"/>
    <p:sldLayoutId id="2147483798" r:id="rId49"/>
    <p:sldLayoutId id="2147483799" r:id="rId50"/>
    <p:sldLayoutId id="2147483800" r:id="rId51"/>
    <p:sldLayoutId id="2147483801" r:id="rId5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delivery%20bikes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food%20delivery" TargetMode="External"/><Relationship Id="rId2" Type="http://schemas.openxmlformats.org/officeDocument/2006/relationships/image" Target="../media/image10.1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38B66-8068-DA86-B9A0-4442D93474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/>
          <a:p>
            <a:r>
              <a:rPr lang="en-IN" sz="4300"/>
              <a:t>Food Delivery Performance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6D811B-FA24-C8D9-66DD-4A696F903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/>
          <a:p>
            <a:r>
              <a:rPr lang="en-IN" dirty="0"/>
              <a:t>Created by: Devansh Chauhan</a:t>
            </a:r>
          </a:p>
          <a:p>
            <a:r>
              <a:rPr lang="en-IN" dirty="0"/>
              <a:t>Tool Used: Power BI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3E7DE67-6CFF-39FB-4A54-89942C38EDF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3129" r="2" b="2"/>
          <a:stretch>
            <a:fillRect/>
          </a:stretch>
        </p:blipFill>
        <p:spPr>
          <a:xfrm>
            <a:off x="5586160" y="10"/>
            <a:ext cx="6605841" cy="6399142"/>
          </a:xfrm>
          <a:noFill/>
        </p:spPr>
      </p:pic>
    </p:spTree>
    <p:extLst>
      <p:ext uri="{BB962C8B-B14F-4D97-AF65-F5344CB8AC3E}">
        <p14:creationId xmlns:p14="http://schemas.microsoft.com/office/powerpoint/2010/main" val="1868547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815D6-6DE7-0E45-FC2D-256527B88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>
            <a:normAutofit/>
          </a:bodyPr>
          <a:lstStyle/>
          <a:p>
            <a:r>
              <a:rPr lang="en-IN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C0A86-AD6C-A35F-8268-AA86B12502A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IN" sz="1500" b="1" dirty="0"/>
              <a:t>Objective</a:t>
            </a:r>
          </a:p>
          <a:p>
            <a:pPr>
              <a:lnSpc>
                <a:spcPct val="110000"/>
              </a:lnSpc>
            </a:pPr>
            <a:r>
              <a:rPr lang="en-IN" sz="1500" dirty="0"/>
              <a:t>The objective of this dashboard is to analyse food delivery performance and identify factors affecting delivery time and order trends.</a:t>
            </a:r>
          </a:p>
          <a:p>
            <a:pPr>
              <a:lnSpc>
                <a:spcPct val="110000"/>
              </a:lnSpc>
            </a:pPr>
            <a:r>
              <a:rPr lang="en-IN" sz="1500" b="1" dirty="0"/>
              <a:t>Dataset Includes:</a:t>
            </a:r>
          </a:p>
          <a:p>
            <a:pPr>
              <a:lnSpc>
                <a:spcPct val="110000"/>
              </a:lnSpc>
            </a:pPr>
            <a:r>
              <a:rPr lang="en-IN" sz="1500" dirty="0"/>
              <a:t>Order ID </a:t>
            </a:r>
          </a:p>
          <a:p>
            <a:pPr>
              <a:lnSpc>
                <a:spcPct val="110000"/>
              </a:lnSpc>
            </a:pPr>
            <a:r>
              <a:rPr lang="en-IN" sz="1500" dirty="0"/>
              <a:t>Delivery Time </a:t>
            </a:r>
          </a:p>
          <a:p>
            <a:pPr>
              <a:lnSpc>
                <a:spcPct val="110000"/>
              </a:lnSpc>
            </a:pPr>
            <a:r>
              <a:rPr lang="en-IN" sz="1500" dirty="0"/>
              <a:t>Distance </a:t>
            </a:r>
          </a:p>
          <a:p>
            <a:pPr>
              <a:lnSpc>
                <a:spcPct val="110000"/>
              </a:lnSpc>
            </a:pPr>
            <a:r>
              <a:rPr lang="en-IN" sz="1500" dirty="0"/>
              <a:t>Traffic Level </a:t>
            </a:r>
          </a:p>
          <a:p>
            <a:pPr>
              <a:lnSpc>
                <a:spcPct val="110000"/>
              </a:lnSpc>
            </a:pPr>
            <a:r>
              <a:rPr lang="en-IN" sz="1500" dirty="0"/>
              <a:t>Weather </a:t>
            </a:r>
          </a:p>
          <a:p>
            <a:pPr>
              <a:lnSpc>
                <a:spcPct val="110000"/>
              </a:lnSpc>
            </a:pPr>
            <a:r>
              <a:rPr lang="en-IN" sz="1500" dirty="0"/>
              <a:t>Delivery Mode </a:t>
            </a:r>
          </a:p>
          <a:p>
            <a:pPr>
              <a:lnSpc>
                <a:spcPct val="110000"/>
              </a:lnSpc>
            </a:pPr>
            <a:r>
              <a:rPr lang="en-IN" sz="1500" dirty="0"/>
              <a:t>Restaurant Zone </a:t>
            </a:r>
          </a:p>
          <a:p>
            <a:pPr>
              <a:lnSpc>
                <a:spcPct val="110000"/>
              </a:lnSpc>
            </a:pPr>
            <a:r>
              <a:rPr lang="en-IN" sz="1500" dirty="0"/>
              <a:t>Customer Zone </a:t>
            </a:r>
          </a:p>
          <a:p>
            <a:pPr>
              <a:lnSpc>
                <a:spcPct val="110000"/>
              </a:lnSpc>
            </a:pPr>
            <a:r>
              <a:rPr lang="en-IN" sz="1500" dirty="0"/>
              <a:t>Order Time</a:t>
            </a:r>
          </a:p>
          <a:p>
            <a:pPr>
              <a:lnSpc>
                <a:spcPct val="110000"/>
              </a:lnSpc>
            </a:pPr>
            <a:endParaRPr lang="en-IN" sz="1500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EBF9C20C-3458-7B22-23BE-F189DA8A1AA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8968" r="16254" b="1"/>
          <a:stretch>
            <a:fillRect/>
          </a:stretch>
        </p:blipFill>
        <p:spPr>
          <a:xfrm>
            <a:off x="8046768" y="10"/>
            <a:ext cx="4145232" cy="6399142"/>
          </a:xfrm>
          <a:noFill/>
        </p:spPr>
      </p:pic>
    </p:spTree>
    <p:extLst>
      <p:ext uri="{BB962C8B-B14F-4D97-AF65-F5344CB8AC3E}">
        <p14:creationId xmlns:p14="http://schemas.microsoft.com/office/powerpoint/2010/main" val="2317185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AE26B-EA10-0639-CF64-54748B066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544" y="858417"/>
            <a:ext cx="3227832" cy="696064"/>
          </a:xfrm>
        </p:spPr>
        <p:txBody>
          <a:bodyPr anchor="t">
            <a:normAutofit/>
          </a:bodyPr>
          <a:lstStyle/>
          <a:p>
            <a:r>
              <a:rPr lang="en-IN" dirty="0"/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F157B-15EF-8A53-10F0-36087D2879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9304" y="1554481"/>
            <a:ext cx="3309608" cy="3993263"/>
          </a:xfrm>
        </p:spPr>
        <p:txBody>
          <a:bodyPr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Dashboard provides an interactive overview of food delivery performance.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Users can filter data using slicers such as weather, traffic level, delivery mode, customer zone, and restaurant zone.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KPI cards display key performance metrics at a glance. 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1F7EFF-7ECD-3849-8E9E-A80C469D3F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7783" y="666511"/>
            <a:ext cx="8631368" cy="4881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682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E37A5-F12D-105C-C1FF-FD94E45A7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5178552" cy="969264"/>
          </a:xfrm>
        </p:spPr>
        <p:txBody>
          <a:bodyPr/>
          <a:lstStyle/>
          <a:p>
            <a:r>
              <a:rPr lang="en-IN" dirty="0"/>
              <a:t>Traffic and weather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882FB-1E87-AC07-544F-539B982BA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83464"/>
            <a:ext cx="5994400" cy="6462776"/>
          </a:xfrm>
        </p:spPr>
        <p:txBody>
          <a:bodyPr>
            <a:normAutofit/>
          </a:bodyPr>
          <a:lstStyle/>
          <a:p>
            <a:r>
              <a:rPr lang="en-IN" b="1" dirty="0"/>
              <a:t>Traffic vs Delivery Time</a:t>
            </a:r>
          </a:p>
          <a:p>
            <a:r>
              <a:rPr lang="en-IN" b="1" dirty="0"/>
              <a:t>Observation</a:t>
            </a:r>
            <a:br>
              <a:rPr lang="en-IN" dirty="0"/>
            </a:br>
            <a:r>
              <a:rPr lang="en-IN" dirty="0"/>
              <a:t>Delivery time increased slightly with increasing traffic levels.</a:t>
            </a:r>
          </a:p>
          <a:p>
            <a:r>
              <a:rPr lang="en-IN" b="1" dirty="0"/>
              <a:t>Insight</a:t>
            </a:r>
            <a:br>
              <a:rPr lang="en-IN" dirty="0"/>
            </a:br>
            <a:r>
              <a:rPr lang="en-IN" dirty="0"/>
              <a:t>Traffic had only a minor impact on delivery time, with just a small difference between low and high traffic conditions.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Weather vs Delivery Time</a:t>
            </a:r>
          </a:p>
          <a:p>
            <a:r>
              <a:rPr lang="en-IN" b="1" dirty="0"/>
              <a:t>Observation</a:t>
            </a:r>
            <a:br>
              <a:rPr lang="en-IN" dirty="0"/>
            </a:br>
            <a:r>
              <a:rPr lang="en-IN" dirty="0"/>
              <a:t>Cloudy weather recorded the highest average delivery time.</a:t>
            </a:r>
          </a:p>
          <a:p>
            <a:r>
              <a:rPr lang="en-IN" b="1" dirty="0"/>
              <a:t>Insight</a:t>
            </a:r>
            <a:br>
              <a:rPr lang="en-IN" dirty="0"/>
            </a:br>
            <a:r>
              <a:rPr lang="en-IN" dirty="0"/>
              <a:t>Cloudy conditions were associated with slower deliveries compared to clear, rainy, and windy weather.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5FC3C8-3FEB-E3A3-DD47-40FD07492F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68" y="1366373"/>
            <a:ext cx="3452526" cy="27179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6B5054-0DC5-365A-42D7-DA84A8212E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68" y="4084320"/>
            <a:ext cx="3452526" cy="273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440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6DC7C-D51B-7E81-8151-4D7AC7462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5798312" cy="969264"/>
          </a:xfrm>
        </p:spPr>
        <p:txBody>
          <a:bodyPr/>
          <a:lstStyle/>
          <a:p>
            <a:r>
              <a:rPr lang="en-IN" dirty="0"/>
              <a:t>Delivery mode and peak order time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091F8-02B0-D640-B3DC-B7A7E541C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1440" y="283464"/>
            <a:ext cx="5750560" cy="6574536"/>
          </a:xfrm>
        </p:spPr>
        <p:txBody>
          <a:bodyPr>
            <a:normAutofit/>
          </a:bodyPr>
          <a:lstStyle/>
          <a:p>
            <a:r>
              <a:rPr lang="en-IN" b="1" dirty="0"/>
              <a:t>Delivery Mode vs Delivery Time</a:t>
            </a:r>
          </a:p>
          <a:p>
            <a:r>
              <a:rPr lang="en-IN" b="1" dirty="0"/>
              <a:t>Observation</a:t>
            </a:r>
            <a:br>
              <a:rPr lang="en-IN" dirty="0"/>
            </a:br>
            <a:r>
              <a:rPr lang="en-IN" dirty="0"/>
              <a:t>Cars and bikes delivered orders faster than bicycles.</a:t>
            </a:r>
          </a:p>
          <a:p>
            <a:r>
              <a:rPr lang="en-IN" b="1" dirty="0"/>
              <a:t>Insight</a:t>
            </a:r>
            <a:br>
              <a:rPr lang="en-IN" dirty="0"/>
            </a:br>
            <a:r>
              <a:rPr lang="en-IN" dirty="0"/>
              <a:t>Motorized delivery modes were more efficient, while bicycles had the longest average delivery time.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Peak Order Time</a:t>
            </a:r>
          </a:p>
          <a:p>
            <a:r>
              <a:rPr lang="en-IN" b="1" dirty="0"/>
              <a:t>Observation</a:t>
            </a:r>
            <a:br>
              <a:rPr lang="en-IN" dirty="0"/>
            </a:br>
            <a:r>
              <a:rPr lang="en-IN" dirty="0"/>
              <a:t>Morning had the highest number of orders, while night had the fewest.</a:t>
            </a:r>
          </a:p>
          <a:p>
            <a:r>
              <a:rPr lang="en-IN" b="1" dirty="0"/>
              <a:t>Insight</a:t>
            </a:r>
            <a:br>
              <a:rPr lang="en-IN" dirty="0"/>
            </a:br>
            <a:r>
              <a:rPr lang="en-IN" dirty="0"/>
              <a:t>Customer demand was concentrated during morning hours.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6E7B57-0A1A-54A0-9CE9-14637E2D2A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68" y="1252728"/>
            <a:ext cx="3349752" cy="26558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C4375C-9727-83A5-67BC-DA7BD3674E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68" y="3890623"/>
            <a:ext cx="3339980" cy="268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108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CC41D-A897-5323-A616-3E7606F8B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rmAutofit/>
          </a:bodyPr>
          <a:lstStyle/>
          <a:p>
            <a:r>
              <a:rPr lang="en-IN" sz="2400"/>
              <a:t>Business recommendations</a:t>
            </a:r>
          </a:p>
        </p:txBody>
      </p:sp>
      <p:pic>
        <p:nvPicPr>
          <p:cNvPr id="5" name="Picture 4" descr="Boxes and roller conveyor">
            <a:extLst>
              <a:ext uri="{FF2B5EF4-FFF2-40B4-BE49-F238E27FC236}">
                <a16:creationId xmlns:a16="http://schemas.microsoft.com/office/drawing/2014/main" id="{72C94F4E-60B9-F1FB-9945-3C4F998E35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39" r="12688" b="-2"/>
          <a:stretch>
            <a:fillRect/>
          </a:stretch>
        </p:blipFill>
        <p:spPr>
          <a:xfrm>
            <a:off x="20" y="10"/>
            <a:ext cx="7002444" cy="639914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C9506-EE8E-E8CA-7913-69565A22D8C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IN" sz="900" b="1"/>
              <a:t>1. Optimize Delivery Allocation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900"/>
              <a:t>Assign cars and bikes to time-sensitive and longer-distance deliveries to improve delivery efficiency.</a:t>
            </a:r>
          </a:p>
          <a:p>
            <a:pPr marL="0" indent="0">
              <a:lnSpc>
                <a:spcPct val="110000"/>
              </a:lnSpc>
              <a:buNone/>
            </a:pPr>
            <a:br>
              <a:rPr lang="en-IN" sz="900"/>
            </a:br>
            <a:endParaRPr lang="en-IN" sz="900"/>
          </a:p>
          <a:p>
            <a:pPr marL="0" indent="0">
              <a:lnSpc>
                <a:spcPct val="110000"/>
              </a:lnSpc>
              <a:buNone/>
            </a:pPr>
            <a:r>
              <a:rPr lang="en-IN" sz="900" b="1"/>
              <a:t>2. Increase Resources During Peak Hours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900"/>
              <a:t>Deploy more delivery partners during morning hours to handle higher demand.</a:t>
            </a:r>
          </a:p>
          <a:p>
            <a:pPr marL="0" indent="0">
              <a:lnSpc>
                <a:spcPct val="110000"/>
              </a:lnSpc>
              <a:buNone/>
            </a:pPr>
            <a:br>
              <a:rPr lang="en-IN" sz="900"/>
            </a:br>
            <a:endParaRPr lang="en-IN" sz="900"/>
          </a:p>
          <a:p>
            <a:pPr marL="0" indent="0">
              <a:lnSpc>
                <a:spcPct val="110000"/>
              </a:lnSpc>
              <a:buNone/>
            </a:pPr>
            <a:r>
              <a:rPr lang="en-IN" sz="900" b="1"/>
              <a:t>3. Investigate Cloudy Weather Delays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900"/>
              <a:t>Analyse operational challenges during cloudy conditions and optimize delivery planning.</a:t>
            </a:r>
          </a:p>
          <a:p>
            <a:pPr marL="0" indent="0">
              <a:lnSpc>
                <a:spcPct val="110000"/>
              </a:lnSpc>
              <a:buNone/>
            </a:pP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773445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46CD6-089A-3651-3F02-EAAEED9CE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/>
          <a:p>
            <a:r>
              <a:rPr lang="en-IN" dirty="0"/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F92DCC3-1A18-8E0F-E7F2-295D8644A6B4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010953665"/>
              </p:ext>
            </p:extLst>
          </p:nvPr>
        </p:nvGraphicFramePr>
        <p:xfrm>
          <a:off x="5694744" y="2423160"/>
          <a:ext cx="5780976" cy="38587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1857718"/>
      </p:ext>
    </p:extLst>
  </p:cSld>
  <p:clrMapOvr>
    <a:masterClrMapping/>
  </p:clrMapOvr>
</p:sld>
</file>

<file path=ppt/theme/theme1.xml><?xml version="1.0" encoding="utf-8"?>
<a:theme xmlns:a="http://schemas.openxmlformats.org/drawingml/2006/main" name="Oasis">
  <a:themeElements>
    <a:clrScheme name="Oasis">
      <a:dk1>
        <a:srgbClr val="131313"/>
      </a:dk1>
      <a:lt1>
        <a:sysClr val="window" lastClr="FFFFFF"/>
      </a:lt1>
      <a:dk2>
        <a:srgbClr val="2D2A27"/>
      </a:dk2>
      <a:lt2>
        <a:srgbClr val="F0EBE6"/>
      </a:lt2>
      <a:accent1>
        <a:srgbClr val="9F7667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Oasis Font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" id="{F87D57D1-6595-40EA-BD1E-F0C34D0EF910}" vid="{ECA7DBCD-4BC8-40F2-8EF4-7A6D942FA19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354</Words>
  <Application>Microsoft Office PowerPoint</Application>
  <PresentationFormat>Widescreen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Neue Haas Grotesk Text Pro</vt:lpstr>
      <vt:lpstr>Oasis</vt:lpstr>
      <vt:lpstr>Food Delivery Performance Dashboard</vt:lpstr>
      <vt:lpstr>Project overview</vt:lpstr>
      <vt:lpstr>dashboard</vt:lpstr>
      <vt:lpstr>Traffic and weather analysis</vt:lpstr>
      <vt:lpstr>Delivery mode and peak order time analysis</vt:lpstr>
      <vt:lpstr>Business 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derek dsliva</dc:creator>
  <cp:lastModifiedBy>derek dsliva</cp:lastModifiedBy>
  <cp:revision>1</cp:revision>
  <dcterms:created xsi:type="dcterms:W3CDTF">2026-06-28T14:44:06Z</dcterms:created>
  <dcterms:modified xsi:type="dcterms:W3CDTF">2026-06-28T15:47:42Z</dcterms:modified>
</cp:coreProperties>
</file>